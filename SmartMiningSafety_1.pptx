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731520"/>
            <a:ext cx="54864" cy="3657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822960"/>
            <a:ext cx="1463040" cy="1463040"/>
          </a:xfrm>
          <a:prstGeom prst="ellipse">
            <a:avLst/>
          </a:prstGeom>
          <a:solidFill>
            <a:srgbClr val="001A2E">
              <a:alpha val="80000"/>
            </a:srgbClr>
          </a:solidFill>
          <a:ln w="25400">
            <a:solidFill>
              <a:srgbClr val="00D4FF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005840"/>
            <a:ext cx="1005840" cy="100584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223760" y="2926080"/>
            <a:ext cx="548640" cy="548640"/>
          </a:xfrm>
          <a:prstGeom prst="ellipse">
            <a:avLst/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49440" y="2651760"/>
            <a:ext cx="1097280" cy="1097280"/>
          </a:xfrm>
          <a:prstGeom prst="ellipse">
            <a:avLst/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675120" y="2377440"/>
            <a:ext cx="1645920" cy="1645920"/>
          </a:xfrm>
          <a:prstGeom prst="ellipse">
            <a:avLst/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MINING SAFETY</a:t>
            </a:r>
            <a:endParaRPr lang="en-US" sz="4400" dirty="0"/>
          </a:p>
        </p:txBody>
      </p:sp>
      <p:sp>
        <p:nvSpPr>
          <p:cNvPr id="26" name="Text 23"/>
          <p:cNvSpPr/>
          <p:nvPr/>
        </p:nvSpPr>
        <p:spPr>
          <a:xfrm>
            <a:off x="594360" y="1554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2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MONITORING &amp; ALERT SYSTEM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5943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IoT &amp; LoRa Technology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94360" y="2834640"/>
            <a:ext cx="73152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4360" y="2971800"/>
            <a:ext cx="1920240" cy="347472"/>
          </a:xfrm>
          <a:prstGeom prst="rect">
            <a:avLst/>
          </a:prstGeom>
          <a:solidFill>
            <a:srgbClr val="00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2971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715768" y="2971800"/>
            <a:ext cx="1920240" cy="347472"/>
          </a:xfrm>
          <a:prstGeom prst="rect">
            <a:avLst/>
          </a:prstGeom>
          <a:solidFill>
            <a:srgbClr val="00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15768" y="2971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837176" y="2971800"/>
            <a:ext cx="1920240" cy="347472"/>
          </a:xfrm>
          <a:prstGeom prst="rect">
            <a:avLst/>
          </a:prstGeom>
          <a:solidFill>
            <a:srgbClr val="00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37176" y="2971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Communication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958584" y="2971800"/>
            <a:ext cx="1920240" cy="347472"/>
          </a:xfrm>
          <a:prstGeom prst="rect">
            <a:avLst/>
          </a:prstGeom>
          <a:solidFill>
            <a:srgbClr val="00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58584" y="2971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Safety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94360" y="3520440"/>
            <a:ext cx="795528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77240" y="36576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Final Year Engineering Project  |  </a:t>
            </a:r>
            <a:pPr algn="l" indent="0" marL="0">
              <a:buNone/>
            </a:pPr>
            <a:r>
              <a:rPr lang="en-US" sz="1200" b="1" dirty="0">
                <a:solidFill>
                  <a:srgbClr val="00FF88"/>
                </a:solidFill>
              </a:rPr>
              <a:t>Department of Electronics &amp; Communication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77240" y="41148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Raspberry Pi Pico  •  MQ135  •  DHT22  •  MPU6050  •  LoRa SX1278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000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Underground mining is one of the world's most dangerous occupations.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" y="1600200"/>
            <a:ext cx="274320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1600200"/>
            <a:ext cx="27432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8308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 Gas Exposure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65760" y="31546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CO, CO₂, CH₄ and other toxic gases build up in confined mine shafts, causing poisoning and asphyxiation.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77240" y="4160520"/>
            <a:ext cx="1645920" cy="502920"/>
          </a:xfrm>
          <a:prstGeom prst="rect">
            <a:avLst/>
          </a:prstGeom>
          <a:solidFill>
            <a:srgbClr val="1A0505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≈ 1,200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77240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deaths/year globally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200400" y="1600200"/>
            <a:ext cx="274320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FF3B3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00400" y="1600200"/>
            <a:ext cx="2743200" cy="54864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783080"/>
            <a:ext cx="731520" cy="7315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9184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Heat &amp; Humidity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337560" y="31546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Deep mine temperatures can exceed 50°C with 90%+ humidity, causing heat stroke and equipment failure.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749040" y="4160520"/>
            <a:ext cx="1645920" cy="502920"/>
          </a:xfrm>
          <a:prstGeom prst="rect">
            <a:avLst/>
          </a:prstGeom>
          <a:solidFill>
            <a:srgbClr val="1A0505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74904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3B3B"/>
                </a:solidFill>
              </a:rPr>
              <a:t>50°C+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749040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temperature extremes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6172200" y="1600200"/>
            <a:ext cx="274320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172200" y="1600200"/>
            <a:ext cx="274320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783080"/>
            <a:ext cx="731520" cy="7315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6364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Accidents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309360" y="31546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Collapses, cave-ins, and tremors trap miners underground with no way to communicate or signal for help.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720840" y="4160520"/>
            <a:ext cx="1645920" cy="502920"/>
          </a:xfrm>
          <a:prstGeom prst="rect">
            <a:avLst/>
          </a:prstGeom>
          <a:solidFill>
            <a:srgbClr val="1A0505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72084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0"/>
                </a:solidFill>
              </a:rPr>
              <a:t>40%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720840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of mining fatalities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0" y="4892040"/>
            <a:ext cx="9144000" cy="265176"/>
          </a:xfrm>
          <a:prstGeom prst="rect">
            <a:avLst/>
          </a:prstGeom>
          <a:solidFill>
            <a:srgbClr val="1A0000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74320" y="4892040"/>
            <a:ext cx="8595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B"/>
                </a:solidFill>
              </a:rPr>
              <a:t>⚠  Lack of real-time monitoring systems is the root cause of preventable mining disasters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FF88"/>
                </a:solidFill>
              </a:rPr>
              <a:t>IoT-Based Smart Mining Safety Monitoring System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82880" y="1508760"/>
            <a:ext cx="201168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" y="1508760"/>
            <a:ext cx="201168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Multi-Sensor Fusion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274320" y="31546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Gas, temperature, humidity, and motion sensors continuously monitor mine conditions.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395728" y="1508760"/>
            <a:ext cx="201168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395728" y="1508760"/>
            <a:ext cx="2011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173736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87168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LoRa Communication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487168" y="31546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Long-Range radio transmits data 2–15 km underground without cellular coverage.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608576" y="1508760"/>
            <a:ext cx="201168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608576" y="1508760"/>
            <a:ext cx="201168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656" y="1737360"/>
            <a:ext cx="731520" cy="7315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00016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</a:rPr>
              <a:t>Dashboard &amp; Alerts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700016" y="31546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Real-time dashboard visualizes sensor data and triggers instant alerts on thresholds.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821424" y="1508760"/>
            <a:ext cx="201168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821424" y="1508760"/>
            <a:ext cx="201168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4" y="1737360"/>
            <a:ext cx="731520" cy="7315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12864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0"/>
                </a:solidFill>
              </a:rPr>
              <a:t>Worker Safety First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6912864" y="31546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Evacuations are triggered automatically — saving lives before accidents happen.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001A0F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88"/>
                </a:solidFill>
              </a:rPr>
              <a:t>✔  Real-Time  |  ✔  Remote Monitoring  |  ✔  Automated Alerts  |  ✔  Low Power  |  ✔  Long Range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05840" y="438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MQ135 Gas Sensor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365760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00FF8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1828800" cy="1828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429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88"/>
                </a:solidFill>
              </a:rPr>
              <a:t>MQ135 Gas Sensor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160520" y="1005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0FF88"/>
                </a:solidFill>
              </a:rPr>
              <a:t>Air Quality Monitoring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160520" y="1417320"/>
            <a:ext cx="470916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97680" y="148132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Continuously samples air quality inside mine tunnels. Triggers danger alerts when toxic gas levels exceed safe thresholds.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160520" y="2468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8"/>
                </a:solidFill>
              </a:rPr>
              <a:t>KEY SPECIFICATIONS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160520" y="2788920"/>
            <a:ext cx="470916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297680" y="2816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Detects: CO₂, NH₃, Benzene, Smoke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160520" y="3172968"/>
            <a:ext cx="4709160" cy="320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97680" y="32004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Output: Analog + Digital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160520" y="3557016"/>
            <a:ext cx="470916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97680" y="358444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Voltage: 5V DC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160520" y="3941064"/>
            <a:ext cx="4709160" cy="320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97680" y="39684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Warm-up time: 24–48 hours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160520" y="4389120"/>
            <a:ext cx="2103120" cy="640080"/>
          </a:xfrm>
          <a:prstGeom prst="rect">
            <a:avLst/>
          </a:prstGeom>
          <a:solidFill>
            <a:srgbClr val="001020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60520" y="4389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88"/>
                </a:solidFill>
              </a:rPr>
              <a:t>≥10 ppm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4160520" y="4773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Detection Threshold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05840" y="438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DHT22 Sensor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365760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FF3B3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1828800" cy="1828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429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3B3B"/>
                </a:solidFill>
              </a:rPr>
              <a:t>DHT22 Sensor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160520" y="1005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3B3B"/>
                </a:solidFill>
              </a:rPr>
              <a:t>Temperature &amp; Humidity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160520" y="1417320"/>
            <a:ext cx="470916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97680" y="148132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Monitors extreme heat and humidity in deep shafts. Alerts supervisors when conditions become unsafe for workers.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160520" y="2468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3B3B"/>
                </a:solidFill>
              </a:rPr>
              <a:t>KEY SPECIFICATIONS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160520" y="2788920"/>
            <a:ext cx="470916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297680" y="2816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Temp range: -40°C to +80°C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160520" y="3172968"/>
            <a:ext cx="4709160" cy="320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97680" y="32004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Humidity: 0–100% RH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160520" y="3557016"/>
            <a:ext cx="470916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97680" y="358444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Accuracy: ±0.5°C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160520" y="3941064"/>
            <a:ext cx="4709160" cy="320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97680" y="39684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Single-wire digital output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160520" y="4389120"/>
            <a:ext cx="2103120" cy="640080"/>
          </a:xfrm>
          <a:prstGeom prst="rect">
            <a:avLst/>
          </a:prstGeom>
          <a:solidFill>
            <a:srgbClr val="001020"/>
          </a:solidFill>
          <a:ln w="25400">
            <a:solidFill>
              <a:srgbClr val="FF3B3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60520" y="4389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3B3B"/>
                </a:solidFill>
              </a:rPr>
              <a:t>±0.5°C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4160520" y="4773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Accuracy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05840" y="438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MPU6050 Sensor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365760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FFD60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1828800" cy="1828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429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600"/>
                </a:solidFill>
              </a:rPr>
              <a:t>MPU6050 Sensor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160520" y="1005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D600"/>
                </a:solidFill>
              </a:rPr>
              <a:t>Motion &amp; Tilt Detection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160520" y="1417320"/>
            <a:ext cx="470916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97680" y="148132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Detects abnormal vibrations, sudden falls, and tunnel collapses. Immediately triggers accident alerts.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160520" y="2468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600"/>
                </a:solidFill>
              </a:rPr>
              <a:t>KEY SPECIFICATIONS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160520" y="2788920"/>
            <a:ext cx="470916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297680" y="2816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6-axis: Gyro + Accelerometer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160520" y="3172968"/>
            <a:ext cx="4709160" cy="320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97680" y="32004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Interface: I²C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160520" y="3557016"/>
            <a:ext cx="470916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97680" y="358444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Range: ±2g to ±16g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160520" y="3941064"/>
            <a:ext cx="4709160" cy="320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97680" y="39684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Operating voltage: 3.3V–5V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160520" y="4389120"/>
            <a:ext cx="2103120" cy="640080"/>
          </a:xfrm>
          <a:prstGeom prst="rect">
            <a:avLst/>
          </a:prstGeom>
          <a:solidFill>
            <a:srgbClr val="001020"/>
          </a:solidFill>
          <a:ln w="25400">
            <a:solidFill>
              <a:srgbClr val="FFD6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60520" y="4389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600"/>
                </a:solidFill>
              </a:rPr>
              <a:t>6-DOF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4160520" y="4773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Sensing Axes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05840" y="438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Raspberry Pi Pico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365760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00D4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1828800" cy="1828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429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Raspberry Pi Pico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160520" y="1005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0D4FF"/>
                </a:solidFill>
              </a:rPr>
              <a:t>Data Processing Unit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160520" y="1417320"/>
            <a:ext cx="470916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97680" y="148132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Acts as the central brain — reads all sensor data, processes threshold logic, and forwards alerts via LoRa module.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160520" y="2468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</a:rPr>
              <a:t>KEY SPECIFICATIONS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160520" y="2788920"/>
            <a:ext cx="470916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297680" y="2816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RP2040 dual-core 133 MHz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160520" y="3172968"/>
            <a:ext cx="4709160" cy="320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97680" y="32004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264 KB SRAM, 2 MB Flash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160520" y="3557016"/>
            <a:ext cx="470916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97680" y="358444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26 GPIO pins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160520" y="3941064"/>
            <a:ext cx="4709160" cy="320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97680" y="39684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MicroPython / C/C++ support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160520" y="4389120"/>
            <a:ext cx="2103120" cy="640080"/>
          </a:xfrm>
          <a:prstGeom prst="rect">
            <a:avLst/>
          </a:prstGeom>
          <a:solidFill>
            <a:srgbClr val="001020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60520" y="4389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133 MHz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4160520" y="4773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Dual-Core Speed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05840" y="438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LoRa SX1278 Module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365760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7C3AE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1828800" cy="1828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429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LoRa SX1278 Module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160520" y="1005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C3AED"/>
                </a:solidFill>
              </a:rPr>
              <a:t>Long-Range Communication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160520" y="1417320"/>
            <a:ext cx="470916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97680" y="148132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Transmits sensor data from deep underground to surface monitoring station without cellular infrastructure.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160520" y="2468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</a:rPr>
              <a:t>KEY SPECIFICATIONS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160520" y="2788920"/>
            <a:ext cx="470916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297680" y="2816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Frequency: 433 / 915 MHz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160520" y="3172968"/>
            <a:ext cx="4709160" cy="320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97680" y="32004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Range: up to 15 km LoS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160520" y="3557016"/>
            <a:ext cx="4709160" cy="32004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97680" y="358444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Modulation: LoRa (CSS)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160520" y="3941064"/>
            <a:ext cx="4709160" cy="320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97680" y="39684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▸  Interface: SPI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160520" y="4389120"/>
            <a:ext cx="2103120" cy="640080"/>
          </a:xfrm>
          <a:prstGeom prst="rect">
            <a:avLst/>
          </a:prstGeom>
          <a:solidFill>
            <a:srgbClr val="001020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60520" y="4389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</a:rPr>
              <a:t>15 km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4160520" y="4773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Communication Range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End-to-End Data Flow: Sensors → Processing → Transmission → Visualization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280160"/>
            <a:ext cx="1600200" cy="2011680"/>
          </a:xfrm>
          <a:prstGeom prst="rect">
            <a:avLst/>
          </a:prstGeom>
          <a:solidFill>
            <a:srgbClr val="0D1117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280160"/>
            <a:ext cx="16002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4630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</a:rPr>
              <a:t>SENSORS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260604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MQ135 / DHT22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MPU6050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01368" y="2286000"/>
            <a:ext cx="1371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47088" y="215798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920240" y="1280160"/>
            <a:ext cx="1600200" cy="2011680"/>
          </a:xfrm>
          <a:prstGeom prst="rect">
            <a:avLst/>
          </a:prstGeom>
          <a:solidFill>
            <a:srgbClr val="0D1117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20240" y="1280160"/>
            <a:ext cx="1600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46304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1168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PICO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011680" y="260604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Processing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538728" y="2286000"/>
            <a:ext cx="1371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584448" y="215798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657600" y="1280160"/>
            <a:ext cx="1600200" cy="2011680"/>
          </a:xfrm>
          <a:prstGeom prst="rect">
            <a:avLst/>
          </a:prstGeom>
          <a:solidFill>
            <a:srgbClr val="0D111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57600" y="1280160"/>
            <a:ext cx="1600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1463040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4904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LoRa TX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749040" y="260604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Transmitter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433/915 MHz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276088" y="2286000"/>
            <a:ext cx="1371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321808" y="215798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394960" y="1280160"/>
            <a:ext cx="1600200" cy="2011680"/>
          </a:xfrm>
          <a:prstGeom prst="rect">
            <a:avLst/>
          </a:prstGeom>
          <a:solidFill>
            <a:srgbClr val="0D111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394960" y="1280160"/>
            <a:ext cx="1600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020" y="1463040"/>
            <a:ext cx="640080" cy="6400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8640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LoRa RX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86400" y="260604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Receiver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Surface Station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013448" y="2286000"/>
            <a:ext cx="1371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059168" y="215798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</a:rPr>
              <a:t>▶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7132320" y="1280160"/>
            <a:ext cx="1600200" cy="2011680"/>
          </a:xfrm>
          <a:prstGeom prst="rect">
            <a:avLst/>
          </a:prstGeom>
          <a:solidFill>
            <a:srgbClr val="0D1117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132320" y="1280160"/>
            <a:ext cx="160020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2380" y="1463040"/>
            <a:ext cx="640080" cy="6400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223760" y="2194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0"/>
                </a:solidFill>
              </a:rPr>
              <a:t>COMPUTER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7223760" y="260604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Dashboard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&amp; Alerts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182880" y="3429000"/>
            <a:ext cx="8732520" cy="502920"/>
          </a:xfrm>
          <a:prstGeom prst="rect">
            <a:avLst/>
          </a:prstGeom>
          <a:solidFill>
            <a:srgbClr val="060C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228600" y="34472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Analog / Digital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Sensor Readings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1965960" y="34472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Processed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Data Packets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3703320" y="34472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LoRa Radio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Transmission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5440680" y="34472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Received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Data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7178040" y="34472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Alerts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Visualization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182880" y="4069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FF88"/>
                </a:solidFill>
              </a:rPr>
              <a:t>Underground Mine Zone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182880" y="4041648"/>
            <a:ext cx="5212080" cy="0"/>
          </a:xfrm>
          <a:prstGeom prst="line">
            <a:avLst/>
          </a:prstGeom>
          <a:noFill/>
          <a:ln w="12700">
            <a:solidFill>
              <a:srgbClr val="00FF88"/>
            </a:solidFill>
            <a:prstDash val="dash"/>
          </a:ln>
        </p:spPr>
      </p:sp>
      <p:sp>
        <p:nvSpPr>
          <p:cNvPr id="46" name="Text 39"/>
          <p:cNvSpPr/>
          <p:nvPr/>
        </p:nvSpPr>
        <p:spPr>
          <a:xfrm>
            <a:off x="5486400" y="4069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D600"/>
                </a:solidFill>
              </a:rPr>
              <a:t>Surface / Control Room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5486400" y="4041648"/>
            <a:ext cx="3429000" cy="0"/>
          </a:xfrm>
          <a:prstGeom prst="line">
            <a:avLst/>
          </a:prstGeom>
          <a:noFill/>
          <a:ln w="12700">
            <a:solidFill>
              <a:srgbClr val="FFD600"/>
            </a:solidFill>
            <a:prstDash val="dash"/>
          </a:ln>
        </p:spPr>
      </p:sp>
      <p:sp>
        <p:nvSpPr>
          <p:cNvPr id="48" name="Text 41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LoRa enables communication even without cellular or Wi-Fi infrastructure underground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WORKING PRINCIPLE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13232"/>
          </a:xfrm>
          <a:prstGeom prst="rect">
            <a:avLst/>
          </a:prstGeom>
          <a:solidFill>
            <a:srgbClr val="0D1117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30352" cy="530352"/>
          </a:xfrm>
          <a:prstGeom prst="ellipse">
            <a:avLst/>
          </a:prstGeom>
          <a:solidFill>
            <a:srgbClr val="001020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88"/>
                </a:solidFill>
              </a:rPr>
              <a:t>01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042416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9692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</a:rPr>
              <a:t>Data Collection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00200" y="12801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Sensors (MQ135, DHT22, MPU6050) continuously measure gas levels, temperature, humidity, and motion in real time.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162763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</a:rPr>
              <a:t>↓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1737360"/>
            <a:ext cx="8595360" cy="713232"/>
          </a:xfrm>
          <a:prstGeom prst="rect">
            <a:avLst/>
          </a:prstGeom>
          <a:solidFill>
            <a:srgbClr val="060C1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1828800"/>
            <a:ext cx="530352" cy="530352"/>
          </a:xfrm>
          <a:prstGeom prst="ellipse">
            <a:avLst/>
          </a:prstGeom>
          <a:solidFill>
            <a:srgbClr val="001020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1828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02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65376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1792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Data Processing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600200" y="21031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Raspberry Pi Pico reads sensor values via ADC/I²C, applies threshold logic, and formats data packets for transmission.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24505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↓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74320" y="2560320"/>
            <a:ext cx="8595360" cy="713232"/>
          </a:xfrm>
          <a:prstGeom prst="rect">
            <a:avLst/>
          </a:prstGeom>
          <a:solidFill>
            <a:srgbClr val="0D111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5760" y="2651760"/>
            <a:ext cx="530352" cy="530352"/>
          </a:xfrm>
          <a:prstGeom prst="ellipse">
            <a:avLst/>
          </a:prstGeom>
          <a:solidFill>
            <a:srgbClr val="001020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65760" y="2651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03</a:t>
            </a:r>
            <a:endParaRPr lang="en-US" sz="13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88336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26151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LoRa Transmission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600200" y="29260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Processed packets are transmitted via LoRa SX1278 module to the surface receiver station up to 15 km away.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57200" y="327355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600"/>
                </a:solidFill>
              </a:rPr>
              <a:t>↓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274320" y="3383280"/>
            <a:ext cx="8595360" cy="713232"/>
          </a:xfrm>
          <a:prstGeom prst="rect">
            <a:avLst/>
          </a:prstGeom>
          <a:solidFill>
            <a:srgbClr val="060C18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65760" y="3474720"/>
            <a:ext cx="530352" cy="530352"/>
          </a:xfrm>
          <a:prstGeom prst="ellipse">
            <a:avLst/>
          </a:prstGeom>
          <a:solidFill>
            <a:srgbClr val="001020"/>
          </a:solidFill>
          <a:ln w="25400">
            <a:solidFill>
              <a:srgbClr val="FFD60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65760" y="3474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600"/>
                </a:solidFill>
              </a:rPr>
              <a:t>04</a:t>
            </a:r>
            <a:endParaRPr lang="en-US" sz="13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11296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00200" y="34381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600"/>
                </a:solidFill>
              </a:rPr>
              <a:t>Visualization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600200" y="37490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Received data is decoded and displayed on a real-time dashboard showing live sensor readings and trend graphs.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57200" y="409651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B"/>
                </a:solidFill>
              </a:rPr>
              <a:t>↓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274320" y="4206240"/>
            <a:ext cx="8595360" cy="713232"/>
          </a:xfrm>
          <a:prstGeom prst="rect">
            <a:avLst/>
          </a:prstGeom>
          <a:solidFill>
            <a:srgbClr val="0D1117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65760" y="4297680"/>
            <a:ext cx="530352" cy="530352"/>
          </a:xfrm>
          <a:prstGeom prst="ellipse">
            <a:avLst/>
          </a:prstGeom>
          <a:solidFill>
            <a:srgbClr val="001020"/>
          </a:solidFill>
          <a:ln w="25400">
            <a:solidFill>
              <a:srgbClr val="FF3B3B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65760" y="42976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3B3B"/>
                </a:solidFill>
              </a:rPr>
              <a:t>05</a:t>
            </a:r>
            <a:endParaRPr lang="en-US" sz="13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34256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600200" y="42611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3B3B"/>
                </a:solidFill>
              </a:rPr>
              <a:t>Alert Generation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1600200" y="45720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If any reading exceeds safe thresholds, the system triggers visual/audio alarms and sends notifications to supervisors.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 SYSTEM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Automated multi-level alert triggers based on sensor threshold violations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188720"/>
            <a:ext cx="8595360" cy="1078992"/>
          </a:xfrm>
          <a:prstGeom prst="rect">
            <a:avLst/>
          </a:prstGeom>
          <a:solidFill>
            <a:srgbClr val="0D1117"/>
          </a:solidFill>
          <a:ln w="19050">
            <a:solidFill>
              <a:srgbClr val="FF3B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188720"/>
            <a:ext cx="64008" cy="1078992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8176"/>
            <a:ext cx="594360" cy="5943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88720" y="1325880"/>
            <a:ext cx="1005840" cy="292608"/>
          </a:xfrm>
          <a:prstGeom prst="rect">
            <a:avLst/>
          </a:prstGeom>
          <a:solidFill>
            <a:srgbClr val="001020"/>
          </a:solidFill>
          <a:ln w="15240">
            <a:solidFill>
              <a:srgbClr val="FF3B3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88720" y="13258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3B3B"/>
                </a:solidFill>
              </a:rPr>
              <a:t>DANGER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331720" y="1298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Gas Level &gt; 400 ppm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33172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3B3B"/>
                </a:solidFill>
              </a:rPr>
              <a:t>Sensor: MQ135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331720" y="1901952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Immediate mine evacuation triggered. Audio sirens + LED red alert activated at surface dashboard.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481328"/>
            <a:ext cx="411480" cy="4114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74320" y="2423160"/>
            <a:ext cx="8595360" cy="1078992"/>
          </a:xfrm>
          <a:prstGeom prst="rect">
            <a:avLst/>
          </a:prstGeom>
          <a:solidFill>
            <a:srgbClr val="0D1117"/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274320" y="2423160"/>
            <a:ext cx="64008" cy="107899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42616"/>
            <a:ext cx="594360" cy="5943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188720" y="2560320"/>
            <a:ext cx="1005840" cy="292608"/>
          </a:xfrm>
          <a:prstGeom prst="rect">
            <a:avLst/>
          </a:prstGeom>
          <a:solidFill>
            <a:srgbClr val="001020"/>
          </a:solidFill>
          <a:ln w="15240">
            <a:solidFill>
              <a:srgbClr val="FFD60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188720" y="2560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WARNING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2331720" y="25328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Temperature &gt; 45°C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331720" y="2880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D600"/>
                </a:solidFill>
              </a:rPr>
              <a:t>Sensor: DHT22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2331720" y="3136392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Supervisor notified via dashboard. Ventilation system activated. Worker rest protocol initiated.</a:t>
            </a:r>
            <a:endParaRPr lang="en-US" sz="9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715768"/>
            <a:ext cx="411480" cy="41148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274320" y="3657600"/>
            <a:ext cx="8595360" cy="1078992"/>
          </a:xfrm>
          <a:prstGeom prst="rect">
            <a:avLst/>
          </a:prstGeom>
          <a:solidFill>
            <a:srgbClr val="0D111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274320" y="3657600"/>
            <a:ext cx="64008" cy="10789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77056"/>
            <a:ext cx="594360" cy="59436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1188720" y="3794760"/>
            <a:ext cx="1005840" cy="292608"/>
          </a:xfrm>
          <a:prstGeom prst="rect">
            <a:avLst/>
          </a:prstGeom>
          <a:solidFill>
            <a:srgbClr val="001020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1188720" y="3794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CRITICAL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2331720" y="37673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Abnormal Vibration / Tilt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233172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6B35"/>
                </a:solidFill>
              </a:rPr>
              <a:t>Sensor: MPU6050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2331720" y="4370832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Collapse or accident detected. Emergency rescue team alert dispatched. Location logged with timestamp.</a:t>
            </a:r>
            <a:endParaRPr lang="en-US" sz="9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3950208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1828800"/>
          </a:xfrm>
          <a:prstGeom prst="rect">
            <a:avLst/>
          </a:prstGeom>
          <a:solidFill>
            <a:srgbClr val="0D1117"/>
          </a:solidFill>
          <a:ln w="15240">
            <a:solidFill>
              <a:srgbClr val="00FF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0972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88"/>
                </a:solidFill>
              </a:rPr>
              <a:t>Real-Time Monitoring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7373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Continuous 24/7 data from all sensors with instant threshold detection. No lag, no blind spots.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72968" y="914400"/>
            <a:ext cx="2743200" cy="1828800"/>
          </a:xfrm>
          <a:prstGeom prst="rect">
            <a:avLst/>
          </a:prstGeom>
          <a:solidFill>
            <a:srgbClr val="0D1117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72968" y="914400"/>
            <a:ext cx="27432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0972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0208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Worker Safety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10128" y="17373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Proactive alerts prevent accidents before they occur, directly saving human lives in hazardous environments.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17336" y="914400"/>
            <a:ext cx="2743200" cy="1828800"/>
          </a:xfrm>
          <a:prstGeom prst="rect">
            <a:avLst/>
          </a:prstGeom>
          <a:solidFill>
            <a:srgbClr val="0D1117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17336" y="91440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0972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94576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Long-Range LoRa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54496" y="17373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Operates up to 15 km with no cellular/Wi-Fi needed. Ideal for deep underground mine shafts.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28600" y="2971800"/>
            <a:ext cx="2743200" cy="1828800"/>
          </a:xfrm>
          <a:prstGeom prst="rect">
            <a:avLst/>
          </a:prstGeom>
          <a:solidFill>
            <a:srgbClr val="0D1117"/>
          </a:solidFill>
          <a:ln w="15240">
            <a:solidFill>
              <a:srgbClr val="FFD60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28600" y="2971800"/>
            <a:ext cx="2743200" cy="457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15468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600"/>
                </a:solidFill>
              </a:rPr>
              <a:t>Low Power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65760" y="3794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LoRa and Pico are ultra-low-power — systems can run on battery backups for days during outages.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172968" y="2971800"/>
            <a:ext cx="2743200" cy="1828800"/>
          </a:xfrm>
          <a:prstGeom prst="rect">
            <a:avLst/>
          </a:prstGeom>
          <a:solidFill>
            <a:srgbClr val="0D1117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172968" y="2971800"/>
            <a:ext cx="27432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15468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50208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Data Logging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310128" y="3794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All sensor readings are timestamped and logged for regulatory compliance and post-incident analysis.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117336" y="2971800"/>
            <a:ext cx="2743200" cy="1828800"/>
          </a:xfrm>
          <a:prstGeom prst="rect">
            <a:avLst/>
          </a:prstGeom>
          <a:solidFill>
            <a:srgbClr val="0D1117"/>
          </a:solidFill>
          <a:ln w="15240">
            <a:solidFill>
              <a:srgbClr val="00FF8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17336" y="2971800"/>
            <a:ext cx="27432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154680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94576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88"/>
                </a:solidFill>
              </a:rPr>
              <a:t>Cost-Effective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254496" y="3794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Off-the-shelf sensors and open-source tools make the system affordable for small and large mines alike.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01A0F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274320" y="4956048"/>
            <a:ext cx="8595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88"/>
                </a:solidFill>
              </a:rPr>
              <a:t>Scalable  •  Reliable  •  Open-Source  •  Industry-Ready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28600" y="1005840"/>
            <a:ext cx="4114800" cy="1783080"/>
          </a:xfrm>
          <a:prstGeom prst="rect">
            <a:avLst/>
          </a:prstGeom>
          <a:solidFill>
            <a:srgbClr val="0D1117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005840"/>
            <a:ext cx="41148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3192" y="1170432"/>
            <a:ext cx="438912" cy="438912"/>
          </a:xfrm>
          <a:prstGeom prst="ellipse">
            <a:avLst/>
          </a:prstGeom>
          <a:solidFill>
            <a:srgbClr val="00102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3192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01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188720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90472" y="11430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AI-Based Predictive Analytics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11480" y="175564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Machine learning models trained on historical sensor data to predict dangerous conditions hours before they develop — enabling pre-emptive action.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11480" y="2496312"/>
            <a:ext cx="1234440" cy="201168"/>
          </a:xfrm>
          <a:prstGeom prst="rect">
            <a:avLst/>
          </a:prstGeom>
          <a:solidFill>
            <a:srgbClr val="001020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2496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D4FF"/>
                </a:solidFill>
              </a:rPr>
              <a:t>TensorFlow Lite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1746504" y="2496312"/>
            <a:ext cx="1234440" cy="201168"/>
          </a:xfrm>
          <a:prstGeom prst="rect">
            <a:avLst/>
          </a:prstGeom>
          <a:solidFill>
            <a:srgbClr val="001020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746504" y="2496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D4FF"/>
                </a:solidFill>
              </a:rPr>
              <a:t>On-device ML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3081528" y="2496312"/>
            <a:ext cx="1234440" cy="201168"/>
          </a:xfrm>
          <a:prstGeom prst="rect">
            <a:avLst/>
          </a:prstGeom>
          <a:solidFill>
            <a:srgbClr val="001020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081528" y="2496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D4FF"/>
                </a:solidFill>
              </a:rPr>
              <a:t>Anomaly Detection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4663440" y="1005840"/>
            <a:ext cx="4114800" cy="1783080"/>
          </a:xfrm>
          <a:prstGeom prst="rect">
            <a:avLst/>
          </a:prstGeom>
          <a:solidFill>
            <a:srgbClr val="0D1117"/>
          </a:solidFill>
          <a:ln w="15240">
            <a:solidFill>
              <a:srgbClr val="00FF8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63440" y="1005840"/>
            <a:ext cx="41148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828032" y="1170432"/>
            <a:ext cx="438912" cy="438912"/>
          </a:xfrm>
          <a:prstGeom prst="ellipse">
            <a:avLst/>
          </a:prstGeom>
          <a:solidFill>
            <a:srgbClr val="001020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28032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</a:rPr>
              <a:t>02</a:t>
            </a:r>
            <a:endParaRPr lang="en-US" sz="1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1188720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925312" y="11430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F88"/>
                </a:solidFill>
              </a:rPr>
              <a:t>Mobile App Integration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846320" y="175564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Dedicated Android/iOS app for supervisors to receive real-time alerts, view sensor dashboards, and manage mine safety remotely from anywhere.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846320" y="2496312"/>
            <a:ext cx="1234440" cy="201168"/>
          </a:xfrm>
          <a:prstGeom prst="rect">
            <a:avLst/>
          </a:prstGeom>
          <a:solidFill>
            <a:srgbClr val="001020"/>
          </a:solidFill>
          <a:ln w="9525">
            <a:solidFill>
              <a:srgbClr val="00FF8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46320" y="2496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FF88"/>
                </a:solidFill>
              </a:rPr>
              <a:t>Flutter</a:t>
            </a:r>
            <a:endParaRPr lang="en-US" sz="700" dirty="0"/>
          </a:p>
        </p:txBody>
      </p:sp>
      <p:sp>
        <p:nvSpPr>
          <p:cNvPr id="27" name="Shape 22"/>
          <p:cNvSpPr/>
          <p:nvPr/>
        </p:nvSpPr>
        <p:spPr>
          <a:xfrm>
            <a:off x="6181344" y="2496312"/>
            <a:ext cx="1234440" cy="201168"/>
          </a:xfrm>
          <a:prstGeom prst="rect">
            <a:avLst/>
          </a:prstGeom>
          <a:solidFill>
            <a:srgbClr val="001020"/>
          </a:solidFill>
          <a:ln w="9525">
            <a:solidFill>
              <a:srgbClr val="00FF8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181344" y="2496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FF88"/>
                </a:solidFill>
              </a:rPr>
              <a:t>Push Notifications</a:t>
            </a:r>
            <a:endParaRPr lang="en-US" sz="700" dirty="0"/>
          </a:p>
        </p:txBody>
      </p:sp>
      <p:sp>
        <p:nvSpPr>
          <p:cNvPr id="29" name="Shape 24"/>
          <p:cNvSpPr/>
          <p:nvPr/>
        </p:nvSpPr>
        <p:spPr>
          <a:xfrm>
            <a:off x="7516368" y="2496312"/>
            <a:ext cx="1234440" cy="201168"/>
          </a:xfrm>
          <a:prstGeom prst="rect">
            <a:avLst/>
          </a:prstGeom>
          <a:solidFill>
            <a:srgbClr val="001020"/>
          </a:solidFill>
          <a:ln w="9525">
            <a:solidFill>
              <a:srgbClr val="00FF8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516368" y="2496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FF88"/>
                </a:solidFill>
              </a:rPr>
              <a:t>Geofencing</a:t>
            </a:r>
            <a:endParaRPr lang="en-US" sz="700" dirty="0"/>
          </a:p>
        </p:txBody>
      </p:sp>
      <p:sp>
        <p:nvSpPr>
          <p:cNvPr id="31" name="Shape 26"/>
          <p:cNvSpPr/>
          <p:nvPr/>
        </p:nvSpPr>
        <p:spPr>
          <a:xfrm>
            <a:off x="228600" y="3017520"/>
            <a:ext cx="4114800" cy="1783080"/>
          </a:xfrm>
          <a:prstGeom prst="rect">
            <a:avLst/>
          </a:prstGeom>
          <a:solidFill>
            <a:srgbClr val="0D1117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228600" y="3017520"/>
            <a:ext cx="41148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93192" y="3182112"/>
            <a:ext cx="438912" cy="438912"/>
          </a:xfrm>
          <a:prstGeom prst="ellipse">
            <a:avLst/>
          </a:prstGeom>
          <a:solidFill>
            <a:srgbClr val="00102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93192" y="3182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03</a:t>
            </a:r>
            <a:endParaRPr lang="en-US" sz="10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200400"/>
            <a:ext cx="438912" cy="43891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490472" y="31546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Cloud Data Storage &amp; Analytics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411480" y="376732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Upload all sensor readings to AWS/GCP for long-term storage, regulatory reporting, trend analysis, and multi-site monitoring from a central portal.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411480" y="4507992"/>
            <a:ext cx="1234440" cy="201168"/>
          </a:xfrm>
          <a:prstGeom prst="rect">
            <a:avLst/>
          </a:prstGeom>
          <a:solidFill>
            <a:srgbClr val="00102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11480" y="4507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</a:rPr>
              <a:t>AWS IoT</a:t>
            </a:r>
            <a:endParaRPr lang="en-US" sz="700" dirty="0"/>
          </a:p>
        </p:txBody>
      </p:sp>
      <p:sp>
        <p:nvSpPr>
          <p:cNvPr id="40" name="Shape 34"/>
          <p:cNvSpPr/>
          <p:nvPr/>
        </p:nvSpPr>
        <p:spPr>
          <a:xfrm>
            <a:off x="1746504" y="4507992"/>
            <a:ext cx="1234440" cy="201168"/>
          </a:xfrm>
          <a:prstGeom prst="rect">
            <a:avLst/>
          </a:prstGeom>
          <a:solidFill>
            <a:srgbClr val="00102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1746504" y="4507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</a:rPr>
              <a:t>MQTT Protocol</a:t>
            </a:r>
            <a:endParaRPr lang="en-US" sz="700" dirty="0"/>
          </a:p>
        </p:txBody>
      </p:sp>
      <p:sp>
        <p:nvSpPr>
          <p:cNvPr id="42" name="Shape 36"/>
          <p:cNvSpPr/>
          <p:nvPr/>
        </p:nvSpPr>
        <p:spPr>
          <a:xfrm>
            <a:off x="3081528" y="4507992"/>
            <a:ext cx="1234440" cy="201168"/>
          </a:xfrm>
          <a:prstGeom prst="rect">
            <a:avLst/>
          </a:prstGeom>
          <a:solidFill>
            <a:srgbClr val="00102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081528" y="4507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</a:rPr>
              <a:t>Big Data Dashboard</a:t>
            </a:r>
            <a:endParaRPr lang="en-US" sz="700" dirty="0"/>
          </a:p>
        </p:txBody>
      </p:sp>
      <p:sp>
        <p:nvSpPr>
          <p:cNvPr id="44" name="Shape 38"/>
          <p:cNvSpPr/>
          <p:nvPr/>
        </p:nvSpPr>
        <p:spPr>
          <a:xfrm>
            <a:off x="4663440" y="3017520"/>
            <a:ext cx="4114800" cy="1783080"/>
          </a:xfrm>
          <a:prstGeom prst="rect">
            <a:avLst/>
          </a:prstGeom>
          <a:solidFill>
            <a:srgbClr val="0D1117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4663440" y="3017520"/>
            <a:ext cx="41148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4828032" y="3182112"/>
            <a:ext cx="438912" cy="438912"/>
          </a:xfrm>
          <a:prstGeom prst="ellipse">
            <a:avLst/>
          </a:prstGeom>
          <a:solidFill>
            <a:srgbClr val="001020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4828032" y="3182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04</a:t>
            </a:r>
            <a:endParaRPr lang="en-US" sz="1000" dirty="0"/>
          </a:p>
        </p:txBody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3200400"/>
            <a:ext cx="438912" cy="438912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5925312" y="31546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Autonomous Rescue Drones</a:t>
            </a:r>
            <a:endParaRPr lang="en-US" sz="1200" dirty="0"/>
          </a:p>
        </p:txBody>
      </p:sp>
      <p:sp>
        <p:nvSpPr>
          <p:cNvPr id="50" name="Text 43"/>
          <p:cNvSpPr/>
          <p:nvPr/>
        </p:nvSpPr>
        <p:spPr>
          <a:xfrm>
            <a:off x="4846320" y="376732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When accidents are detected, autonomous drones navigate mine tunnels to locate trapped workers and relay live video feed to rescue teams.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4846320" y="4507992"/>
            <a:ext cx="1234440" cy="201168"/>
          </a:xfrm>
          <a:prstGeom prst="rect">
            <a:avLst/>
          </a:prstGeom>
          <a:solidFill>
            <a:srgbClr val="001020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4846320" y="4507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6B35"/>
                </a:solidFill>
              </a:rPr>
              <a:t>Computer Vision</a:t>
            </a:r>
            <a:endParaRPr lang="en-US" sz="700" dirty="0"/>
          </a:p>
        </p:txBody>
      </p:sp>
      <p:sp>
        <p:nvSpPr>
          <p:cNvPr id="53" name="Shape 46"/>
          <p:cNvSpPr/>
          <p:nvPr/>
        </p:nvSpPr>
        <p:spPr>
          <a:xfrm>
            <a:off x="6181344" y="4507992"/>
            <a:ext cx="1234440" cy="201168"/>
          </a:xfrm>
          <a:prstGeom prst="rect">
            <a:avLst/>
          </a:prstGeom>
          <a:solidFill>
            <a:srgbClr val="001020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6181344" y="4507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6B35"/>
                </a:solidFill>
              </a:rPr>
              <a:t>Indoor Navigation</a:t>
            </a:r>
            <a:endParaRPr lang="en-US" sz="700" dirty="0"/>
          </a:p>
        </p:txBody>
      </p:sp>
      <p:sp>
        <p:nvSpPr>
          <p:cNvPr id="55" name="Shape 48"/>
          <p:cNvSpPr/>
          <p:nvPr/>
        </p:nvSpPr>
        <p:spPr>
          <a:xfrm>
            <a:off x="7516368" y="4507992"/>
            <a:ext cx="1234440" cy="201168"/>
          </a:xfrm>
          <a:prstGeom prst="rect">
            <a:avLst/>
          </a:prstGeom>
          <a:solidFill>
            <a:srgbClr val="001020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7516368" y="45079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6B35"/>
                </a:solidFill>
              </a:rPr>
              <a:t>SLAM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"/>
            <a:ext cx="914400" cy="914400"/>
          </a:xfrm>
          <a:prstGeom prst="ellipse">
            <a:avLst/>
          </a:prstGeom>
          <a:solidFill>
            <a:srgbClr val="00D4FF">
              <a:alpha val="5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1828800" cy="1828800"/>
          </a:xfrm>
          <a:prstGeom prst="ellipse">
            <a:avLst/>
          </a:prstGeom>
          <a:solidFill>
            <a:srgbClr val="00D4FF">
              <a:alpha val="5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82880"/>
            <a:ext cx="2743200" cy="2743200"/>
          </a:xfrm>
          <a:prstGeom prst="ellipse">
            <a:avLst/>
          </a:prstGeom>
          <a:solidFill>
            <a:srgbClr val="00D4FF">
              <a:alpha val="5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91440"/>
            <a:ext cx="3657600" cy="3657600"/>
          </a:xfrm>
          <a:prstGeom prst="ellipse">
            <a:avLst/>
          </a:prstGeom>
          <a:solidFill>
            <a:srgbClr val="00D4FF">
              <a:alpha val="5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4572000" cy="4572000"/>
          </a:xfrm>
          <a:prstGeom prst="ellipse">
            <a:avLst/>
          </a:prstGeom>
          <a:solidFill>
            <a:srgbClr val="00D4FF">
              <a:alpha val="5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6858000" y="457200"/>
            <a:ext cx="1920240" cy="1920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011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320040" y="914400"/>
            <a:ext cx="8503920" cy="960120"/>
          </a:xfrm>
          <a:prstGeom prst="rect">
            <a:avLst/>
          </a:prstGeom>
          <a:solidFill>
            <a:srgbClr val="060C1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987552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The Smart Mining Safety Monitoring &amp; Alert System leverages IoT sensors, LoRa communication, and real-time dashboards to fundamentally transform underground mine safety. By continuously monitoring gas, temperature, humidity, and motion — and instantly alerting teams when danger thresholds are crossed — this system moves mining safety from reactive to proactive.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0040" y="2057400"/>
            <a:ext cx="411480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00FF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139696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21488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Prevents accidents before they occur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17720" y="2057400"/>
            <a:ext cx="411480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213969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12080" y="21488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Works 15 km underground without cellular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20040" y="2715768"/>
            <a:ext cx="411480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798064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28072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Ultra-low power — battery-operable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617720" y="2715768"/>
            <a:ext cx="411480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2798064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12080" y="28072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Scalable to multi-sensor, multi-mine networks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320040" y="3429000"/>
            <a:ext cx="8503920" cy="685800"/>
          </a:xfrm>
          <a:prstGeom prst="rect">
            <a:avLst/>
          </a:prstGeom>
          <a:solidFill>
            <a:srgbClr val="001A2E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20040" y="3429000"/>
            <a:ext cx="64008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2920" y="34747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D4FF"/>
                </a:solidFill>
              </a:rPr>
              <a:t>"Smart technology does not replace human vigilance — it amplifies it. Every sensor reading is a heartbeat of safety."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0" y="4251960"/>
            <a:ext cx="9144000" cy="896112"/>
          </a:xfrm>
          <a:prstGeom prst="rect">
            <a:avLst/>
          </a:prstGeom>
          <a:solidFill>
            <a:srgbClr val="060C1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0" y="425196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320040" y="4315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30" name="Text 23"/>
          <p:cNvSpPr/>
          <p:nvPr/>
        </p:nvSpPr>
        <p:spPr>
          <a:xfrm>
            <a:off x="3200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Questions &amp; Discussion Welcome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846320" y="4389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Raspberry Pi Pico  •  MQ135  •  DHT22  •  MPU6050  •  LoRa SX1278  •  Python / MicroPython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4846320" y="4754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Smart Mining Safety System  |  Final Year Project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Mining Safety Monitoring &amp; Alert System</dc:title>
  <dc:subject>PptxGenJS Presentation</dc:subject>
  <dc:creator>PptxGenJS</dc:creator>
  <cp:lastModifiedBy>PptxGenJS</cp:lastModifiedBy>
  <cp:revision>1</cp:revision>
  <dcterms:created xsi:type="dcterms:W3CDTF">2026-04-27T03:32:48Z</dcterms:created>
  <dcterms:modified xsi:type="dcterms:W3CDTF">2026-04-27T03:32:48Z</dcterms:modified>
</cp:coreProperties>
</file>